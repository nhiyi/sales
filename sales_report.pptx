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Be Vietnam Pro ExtraBold"/>
      <p:bold r:id="rId17"/>
      <p:boldItalic r:id="rId18"/>
    </p:embeddedFont>
    <p:embeddedFont>
      <p:font typeface="Be Vietnam Pro SemiBold"/>
      <p:regular r:id="rId19"/>
      <p:bold r:id="rId20"/>
      <p:italic r:id="rId21"/>
      <p:boldItalic r:id="rId22"/>
    </p:embeddedFont>
    <p:embeddedFont>
      <p:font typeface="Be Vietnam Pro"/>
      <p:regular r:id="rId23"/>
      <p:bold r:id="rId24"/>
      <p:italic r:id="rId25"/>
      <p:boldItalic r:id="rId26"/>
    </p:embeddedFont>
    <p:embeddedFont>
      <p:font typeface="Be Vietnam Pro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455D9A-E8DF-4F02-944F-BB7F0A28486C}">
  <a:tblStyle styleId="{D3455D9A-E8DF-4F02-944F-BB7F0A2848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VietnamProSemiBold-bold.fntdata"/><Relationship Id="rId22" Type="http://schemas.openxmlformats.org/officeDocument/2006/relationships/font" Target="fonts/BeVietnamProSemiBold-boldItalic.fntdata"/><Relationship Id="rId21" Type="http://schemas.openxmlformats.org/officeDocument/2006/relationships/font" Target="fonts/BeVietnamProSemiBold-italic.fntdata"/><Relationship Id="rId24" Type="http://schemas.openxmlformats.org/officeDocument/2006/relationships/font" Target="fonts/BeVietnamPro-bold.fntdata"/><Relationship Id="rId23" Type="http://schemas.openxmlformats.org/officeDocument/2006/relationships/font" Target="fonts/BeVietnam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BeVietnamPro-boldItalic.fntdata"/><Relationship Id="rId25" Type="http://schemas.openxmlformats.org/officeDocument/2006/relationships/font" Target="fonts/BeVietnamPro-italic.fntdata"/><Relationship Id="rId28" Type="http://schemas.openxmlformats.org/officeDocument/2006/relationships/font" Target="fonts/BeVietnamProMedium-bold.fntdata"/><Relationship Id="rId27" Type="http://schemas.openxmlformats.org/officeDocument/2006/relationships/font" Target="fonts/BeVietnamPr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BeVietnamPro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BeVietnamPro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BeVietnamProExtraBold-bold.fntdata"/><Relationship Id="rId16" Type="http://schemas.openxmlformats.org/officeDocument/2006/relationships/slide" Target="slides/slide10.xml"/><Relationship Id="rId19" Type="http://schemas.openxmlformats.org/officeDocument/2006/relationships/font" Target="fonts/BeVietnamProSemiBold-regular.fntdata"/><Relationship Id="rId18" Type="http://schemas.openxmlformats.org/officeDocument/2006/relationships/font" Target="fonts/BeVietnamPro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5.png"/><Relationship Id="rId11" Type="http://schemas.openxmlformats.org/officeDocument/2006/relationships/image" Target="../media/image29.png"/><Relationship Id="rId10" Type="http://schemas.openxmlformats.org/officeDocument/2006/relationships/image" Target="../media/image21.png"/><Relationship Id="rId12" Type="http://schemas.openxmlformats.org/officeDocument/2006/relationships/image" Target="../media/image22.png"/><Relationship Id="rId9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27.png"/><Relationship Id="rId7" Type="http://schemas.openxmlformats.org/officeDocument/2006/relationships/image" Target="../media/image32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38.png"/><Relationship Id="rId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8397"/>
            <a:ext cx="29337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740372"/>
            <a:ext cx="10801350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Phân tích Doanh số Acme Co. (2014–2018)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70002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Khám phá xu hướng kinh doanh, hiệu quả kênh phân phối và giải pháp tối ưu hóa lợi nhuận cho Acme Co. tại thị trường Hoa Kỳ.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5262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690812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369A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Phạm vi Dữ liệu Nghiên cứu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024187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Nghiên cứu dựa trên dữ liệu bán hàng toàn diện của Acme Co. tại Mỹ từ năm 2014 đến 2018, tích hợp 6 bộ dữ liệu cốt lõi: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193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96215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14400" y="3633787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Sales Orders: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Chi tiết 64k+ giao dịch giá bán và chi phí.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033837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Khách hàng &amp; Sản phẩm: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Phân khúc và danh mục hàng hóa.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433887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Địa lý &amp; Ngân sách: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Phân vùng kinh doanh &amp; chỉ tiêu target.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48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48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481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Tổng quan &amp; Phạm vi Dự án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52625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6215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14400" y="2819400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Xác định Động lực Tăng trưởng: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Đánh giá các dòng sản phẩm và kênh phân phối đóng góp lợi nhuận cao nhất.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14400" y="3448050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Dự báo &amp; Tính Mùa vụ: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Nhận diện chu kỳ biến động theo thời gian để tối ưu hóa quản lý hàng tồn kho.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4076700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Quản trị Chi phí &amp; Giá: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Phát hiện các giao dịch ngoại lệ (Outliers) ảnh hưởng tiêu cực tới biên lợi nhuận.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336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62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909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Vấn đề Kinh doanh &amp; Mục tiêu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0262"/>
            <a:ext cx="11049000" cy="3324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Google Shape;127;p16"/>
          <p:cNvGraphicFramePr/>
          <p:nvPr/>
        </p:nvGraphicFramePr>
        <p:xfrm>
          <a:off x="581025" y="21097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{D3455D9A-E8DF-4F02-944F-BB7F0A28486C}</a:tableStyleId>
              </a:tblPr>
              <a:tblGrid>
                <a:gridCol w="2189700"/>
                <a:gridCol w="1875375"/>
                <a:gridCol w="2068125"/>
                <a:gridCol w="4896750"/>
              </a:tblGrid>
              <a:tr h="5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Tên Bảng (Sheet Name)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Kích thước (Shape)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Chức năng Chính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Mô tả Chi tiết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Sales Orders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64,104 x 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Giao dịch Đơn hàng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Lưu thông tin giá bán, số lượng, chi phí &amp; doanh thu chi tiết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Customers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175 x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Danh mục Khách hàng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Danh sách tên và chỉ mục các đối tác doanh nghiệp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Products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30 x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Danh mục Sản phẩm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Danh sách các mã mặt hàng kinh doanh chủ lực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Regions &amp; States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994 x 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Địa lý &amp; Dân số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Tọa độ, khu vực, bang, quy mô dân số và thu nhập trung bình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2017 Budgets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30 x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Kế hoạch Ngân sách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Chỉ tiêu ngân sách đặt ra cho từng dòng sản phẩm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16"/>
          <p:cNvSpPr/>
          <p:nvPr/>
        </p:nvSpPr>
        <p:spPr>
          <a:xfrm>
            <a:off x="581025" y="3171825"/>
            <a:ext cx="2189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770733" y="3171825"/>
            <a:ext cx="18753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4646116" y="3171825"/>
            <a:ext cx="20681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6714232" y="3171825"/>
            <a:ext cx="4896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81025" y="3729037"/>
            <a:ext cx="2189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770733" y="3729037"/>
            <a:ext cx="18753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646116" y="3729037"/>
            <a:ext cx="20681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714232" y="3729037"/>
            <a:ext cx="4896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81025" y="4286250"/>
            <a:ext cx="2189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770733" y="4286250"/>
            <a:ext cx="18753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4646116" y="4286250"/>
            <a:ext cx="20681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714232" y="4286250"/>
            <a:ext cx="4896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81025" y="4843462"/>
            <a:ext cx="2189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770733" y="4843462"/>
            <a:ext cx="18753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646116" y="4843462"/>
            <a:ext cx="20681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714232" y="4843462"/>
            <a:ext cx="4896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81025" y="5400675"/>
            <a:ext cx="2189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770733" y="5400675"/>
            <a:ext cx="18753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646116" y="5400675"/>
            <a:ext cx="20681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714232" y="5400675"/>
            <a:ext cx="4896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61233" y="2771775"/>
            <a:ext cx="885825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1233" y="3328987"/>
            <a:ext cx="619125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61233" y="3886200"/>
            <a:ext cx="581025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61233" y="4443412"/>
            <a:ext cx="714375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61233" y="5000625"/>
            <a:ext cx="581025" cy="26193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Cấu trúc &amp; Quy mô Dữ liệu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787"/>
            <a:ext cx="3530649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109787"/>
            <a:ext cx="3530649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109787"/>
            <a:ext cx="3530649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2290762"/>
            <a:ext cx="316869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1724" y="2290762"/>
            <a:ext cx="316869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70974" y="2290762"/>
            <a:ext cx="316869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752475" y="4538662"/>
            <a:ext cx="33271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369A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1. Làm sạch Dữ liệu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52475" y="4833937"/>
            <a:ext cx="31686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Kiểm tra tính toàn vẹn, xử lý giá trị thiếu và chuẩn hóa kiểu dữ liệu cho phân tích.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511724" y="4538662"/>
            <a:ext cx="33271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369A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2. Phân tích Đa chiều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511724" y="4833937"/>
            <a:ext cx="31686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Khảo sát tương quan giữa Doanh thu, Lợi nhuận với Kênh phân phối và Phân khúc.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270974" y="4538662"/>
            <a:ext cx="33271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369A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3. Xu hướng &amp; Mùa vụ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270974" y="4833937"/>
            <a:ext cx="31686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Trực quan hóa biến động chu kỳ để xác định thời điểm tăng trưởng đỉnh cao qua các năm.</a:t>
            </a:r>
            <a:endParaRPr/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2300287"/>
            <a:ext cx="3149649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21249" y="2300287"/>
            <a:ext cx="3149649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80499" y="2300287"/>
            <a:ext cx="3149649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Phương pháp Khám phá Dữ liệu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2187"/>
            <a:ext cx="53340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5262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04875" y="2595562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38BDF8"/>
                </a:solidFill>
                <a:latin typeface="Be Vietnam Pro ExtraBold"/>
                <a:ea typeface="Be Vietnam Pro ExtraBold"/>
                <a:cs typeface="Be Vietnam Pro ExtraBold"/>
                <a:sym typeface="Be Vietnam Pro ExtraBold"/>
              </a:rPr>
              <a:t>64K+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04875" y="3319462"/>
            <a:ext cx="4667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Giao dịch được phân tích toàn diện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96215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914400" y="4062412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Theo dõi biến động Doanh thu &amp; Biên lợi nhuận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14400" y="4462462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 sánh Chỉ tiêu Thực tế vs Ngân sách (Actual vs Budget)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14400" y="4862512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Lọc dữ liệu linh hoạt theo Product, Channel &amp; Region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767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76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87680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Định hướng Power BI Dashboard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714375" y="476250"/>
            <a:ext cx="56507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Giá trị Chiến lược Acme Co.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571500" y="3138487"/>
            <a:ext cx="5800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369A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Tối ưu hóa Hoạt động Kinh doanh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3471862"/>
            <a:ext cx="552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Kết hợp phân tích EDA chuyên sâu và Dashboard trực quan giúp Acme Co. tối ưu hóa chính sách giá, giảm phụ thuộc vào kênh đơn lẻ.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3929062"/>
            <a:ext cx="552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Nhận diện sớm các rủi ro biến động giá vốn giúp doanh nghiệp thúc đẩy tăng trưởng doanh thu bền vững tại thị trường Mỹ.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6100" y="3933825"/>
            <a:ext cx="60198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295275" y="2371725"/>
            <a:ext cx="116014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Cảm ơn &amp; Hỏi - Đáp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32385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Báo cáo EDA &amp; Định hướng Power BI Dashboard – Acme Co.</a:t>
            </a:r>
            <a:endParaRPr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8525" y="4133850"/>
            <a:ext cx="1714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/>
          <p:nvPr/>
        </p:nvSpPr>
        <p:spPr>
          <a:xfrm>
            <a:off x="571500" y="11953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71500" y="196691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71500" y="290988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71500" y="385286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71500" y="47958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71500" y="1957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71500" y="1957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71500" y="29003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71500" y="29003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71500" y="4786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71500" y="4786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71500" y="55578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71500" y="55578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8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1666875" y="13454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https://www.icajobguarantee.com/blog/wp-content/uploads/2025/11/Sales-Performance-Dashboard-300x224.png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1666875" y="15787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www.icajobguarantee.com</a:t>
            </a:r>
            <a:endParaRPr/>
          </a:p>
        </p:txBody>
      </p:sp>
      <p:pic>
        <p:nvPicPr>
          <p:cNvPr descr="image.png" id="238" name="Google Shape;23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955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1666875" y="210978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https://media.istockphoto.com/id/2207850536/photo/business-person-analyzing-financial-charts-and-reports-on-a-digital-tablet.jpg?s=612x612&amp;w=0&amp;k=20&amp;c=_1V2dTYIoG8z5wBJI9LgnVHcqr05U-hfSiYsmA09Zks=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1666875" y="25288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www.istockphoto.com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384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1666875" y="30527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https://media.istockphoto.com/id/1399138211/vector/data-cleaning-blue-gradient-concept-icon.jpg?s=612x612&amp;w=0&amp;k=20&amp;c=5cVdQ4EvrEWJGk2qFsXBKKV8X4UqWpwbh-OaRGUbhQo=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666875" y="34718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www.istockphoto.com</a:t>
            </a:r>
            <a:endParaRPr/>
          </a:p>
        </p:txBody>
      </p:sp>
      <p:pic>
        <p:nvPicPr>
          <p:cNvPr descr="image.png" id="244" name="Google Shape;24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814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1666875" y="39957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https://www.thebusinessresearchcompany.com/_next/image?url=https%3A%2F%2Fd1lt5802h39cn9.cloudfront.net%2Fgraphs%2Fbusiness_analytics_enterprise_software_global_market_report_graphname.webp&amp;w=1920&amp;q=75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666875" y="44148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www.thebusinessresearchcompany.com</a:t>
            </a:r>
            <a:endParaRPr/>
          </a:p>
        </p:txBody>
      </p:sp>
      <p:pic>
        <p:nvPicPr>
          <p:cNvPr descr="image.png" id="247" name="Google Shape;24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387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1666875" y="49458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https://images.stockcake.com/public/5/8/f/58f25b1d-49f3-4d0d-a08b-887e1c2734e8_large/upward-financial-trajectory-stockcake.jpg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1666875" y="51792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stockcake.com</a:t>
            </a:r>
            <a:endParaRPr/>
          </a:p>
        </p:txBody>
      </p:sp>
      <p:pic>
        <p:nvPicPr>
          <p:cNvPr descr="image.png" id="250" name="Google Shape;25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102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1666875" y="57173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https://dashboardbuilder.net/images/business_dashboard_org.png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666875" y="59507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dashboardbuilder.net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Image Sources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4012" y="3524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2719387" y="3531393"/>
            <a:ext cx="78486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https://fbi-reports-file.s3.us-west-2.amazonaws.com/fbi_l/infographics-svg-webp/supply_chain_management_market.webp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2719387" y="3764756"/>
            <a:ext cx="784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www.fortunebusinessinsights.com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Image Sources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